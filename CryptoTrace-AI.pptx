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Poppins Bold" charset="1" panose="00000800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png" Type="http://schemas.openxmlformats.org/officeDocument/2006/relationships/image"/><Relationship Id="rId14" Target="../media/image13.svg" Type="http://schemas.openxmlformats.org/officeDocument/2006/relationships/image"/><Relationship Id="rId15" Target="https://crypto-trace-ai-sih.vercel.app" TargetMode="External" Type="http://schemas.openxmlformats.org/officeDocument/2006/relationships/hyperlink"/><Relationship Id="rId16" Target="../media/image14.png" Type="http://schemas.openxmlformats.org/officeDocument/2006/relationships/image"/><Relationship Id="rId17" Target="../media/image15.svg" Type="http://schemas.openxmlformats.org/officeDocument/2006/relationships/image"/><Relationship Id="rId18" Target="https://github.com/rajdeepcodeshere247/crypto-trace-ai" TargetMode="External" Type="http://schemas.openxmlformats.org/officeDocument/2006/relationships/hyperlink"/><Relationship Id="rId19" Target="../media/image16.png" Type="http://schemas.openxmlformats.org/officeDocument/2006/relationships/image"/><Relationship Id="rId2" Target="../media/image1.jpeg" Type="http://schemas.openxmlformats.org/officeDocument/2006/relationships/image"/><Relationship Id="rId20" Target="../media/image17.svg" Type="http://schemas.openxmlformats.org/officeDocument/2006/relationships/image"/><Relationship Id="rId21" Target="https://sih-lyart-delta.vercel.app" TargetMode="External" Type="http://schemas.openxmlformats.org/officeDocument/2006/relationships/hyperlink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arxiv.org/abs/1405.7418" TargetMode="External" Type="http://schemas.openxmlformats.org/officeDocument/2006/relationships/hyperlink"/><Relationship Id="rId11" Target="https://proceedings.neurips.cc/paper_files/paper/2017/hash/6c3cf77d52820cd0fe646d38bc2145ca-Abstract.html" TargetMode="External" Type="http://schemas.openxmlformats.org/officeDocument/2006/relationships/hyperlink"/><Relationship Id="rId12" Target="https://www.nature.com/articles/s41598-025-23901-3" TargetMode="External" Type="http://schemas.openxmlformats.org/officeDocument/2006/relationships/hyperlink"/><Relationship Id="rId13" Target="https://www.kaggle.com/datasets/ellipticco/elliptic-data-set/data" TargetMode="External" Type="http://schemas.openxmlformats.org/officeDocument/2006/relationships/hyperlink"/><Relationship Id="rId14" Target="https://www.kaggle.com/datasets/singhakash/bitcoinheistransomwareaddressdataset" TargetMode="External" Type="http://schemas.openxmlformats.org/officeDocument/2006/relationships/hyperlink"/><Relationship Id="rId15" Target="https://www.kaggle.com/datasets/bigquery/bitcoin-blockchain/data" TargetMode="External" Type="http://schemas.openxmlformats.org/officeDocument/2006/relationships/hyperlink"/><Relationship Id="rId16" Target="https://www.kaggle.com/datasets/bitquery/bitcoin-transactions-2024" TargetMode="External" Type="http://schemas.openxmlformats.org/officeDocument/2006/relationships/hyperlink"/><Relationship Id="rId17" Target="https://www.kaggle.com/datasets/pablodejuanfidalgo/augmented-elliptic-data-set" TargetMode="External" Type="http://schemas.openxmlformats.org/officeDocument/2006/relationships/hyperlink"/><Relationship Id="rId2" Target="../media/image22.jpeg" Type="http://schemas.openxmlformats.org/officeDocument/2006/relationships/image"/><Relationship Id="rId3" Target="../media/image6.png" Type="http://schemas.openxmlformats.org/officeDocument/2006/relationships/image"/><Relationship Id="rId4" Target="../media/image7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https://bitcoin.org/en/bitcoin-paper" TargetMode="External" Type="http://schemas.openxmlformats.org/officeDocument/2006/relationships/hyperlink"/><Relationship Id="rId8" Target="https://link.springer.com/article/10.1007/s12525-023-00654-3" TargetMode="External" Type="http://schemas.openxmlformats.org/officeDocument/2006/relationships/hyperlink"/><Relationship Id="rId9" Target="https://ietresearch.onlinelibrary.wiley.com/doi/10.1049/blc2.12014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601" y="0"/>
            <a:ext cx="18277523" cy="10286428"/>
            <a:chOff x="0" y="0"/>
            <a:chExt cx="24370030" cy="137152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0030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24370030">
                  <a:moveTo>
                    <a:pt x="0" y="0"/>
                  </a:moveTo>
                  <a:lnTo>
                    <a:pt x="24370030" y="0"/>
                  </a:lnTo>
                  <a:lnTo>
                    <a:pt x="24370030" y="13715237"/>
                  </a:lnTo>
                  <a:lnTo>
                    <a:pt x="0" y="13715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4193305" y="5793486"/>
            <a:ext cx="3086100" cy="763953"/>
          </a:xfrm>
          <a:custGeom>
            <a:avLst/>
            <a:gdLst/>
            <a:ahLst/>
            <a:cxnLst/>
            <a:rect r="r" b="b" t="t" l="l"/>
            <a:pathLst>
              <a:path h="763953" w="3086100">
                <a:moveTo>
                  <a:pt x="0" y="0"/>
                </a:moveTo>
                <a:lnTo>
                  <a:pt x="3086100" y="0"/>
                </a:lnTo>
                <a:lnTo>
                  <a:pt x="3086100" y="763953"/>
                </a:lnTo>
                <a:lnTo>
                  <a:pt x="0" y="763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037807" y="7243924"/>
            <a:ext cx="3086100" cy="663226"/>
          </a:xfrm>
          <a:custGeom>
            <a:avLst/>
            <a:gdLst/>
            <a:ahLst/>
            <a:cxnLst/>
            <a:rect r="r" b="b" t="t" l="l"/>
            <a:pathLst>
              <a:path h="663226" w="3086100">
                <a:moveTo>
                  <a:pt x="0" y="0"/>
                </a:moveTo>
                <a:lnTo>
                  <a:pt x="3086100" y="0"/>
                </a:lnTo>
                <a:lnTo>
                  <a:pt x="3086100" y="663226"/>
                </a:lnTo>
                <a:lnTo>
                  <a:pt x="0" y="66322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-317" r="0" b="-315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961740" y="3308452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961740" y="2131381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961740" y="4687653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961740" y="5793486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961740" y="6892166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961740" y="8046587"/>
            <a:ext cx="249079" cy="568747"/>
          </a:xfrm>
          <a:custGeom>
            <a:avLst/>
            <a:gdLst/>
            <a:ahLst/>
            <a:cxnLst/>
            <a:rect r="r" b="b" t="t" l="l"/>
            <a:pathLst>
              <a:path h="568747" w="249079">
                <a:moveTo>
                  <a:pt x="0" y="0"/>
                </a:moveTo>
                <a:lnTo>
                  <a:pt x="249079" y="0"/>
                </a:lnTo>
                <a:lnTo>
                  <a:pt x="249079" y="568747"/>
                </a:lnTo>
                <a:lnTo>
                  <a:pt x="0" y="56874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143467" y="9287723"/>
            <a:ext cx="601218" cy="595208"/>
          </a:xfrm>
          <a:custGeom>
            <a:avLst/>
            <a:gdLst/>
            <a:ahLst/>
            <a:cxnLst/>
            <a:rect r="r" b="b" t="t" l="l"/>
            <a:pathLst>
              <a:path h="595208" w="601218">
                <a:moveTo>
                  <a:pt x="0" y="0"/>
                </a:moveTo>
                <a:lnTo>
                  <a:pt x="601218" y="0"/>
                </a:lnTo>
                <a:lnTo>
                  <a:pt x="601218" y="595207"/>
                </a:lnTo>
                <a:lnTo>
                  <a:pt x="0" y="59520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-285" t="0" r="-286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2220335" y="9317984"/>
            <a:ext cx="1509779" cy="434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 u="sng">
                <a:solidFill>
                  <a:srgbClr val="0000FF"/>
                </a:solidFill>
                <a:latin typeface="Poppins Bold"/>
                <a:ea typeface="Poppins Bold"/>
                <a:cs typeface="Poppins Bold"/>
                <a:sym typeface="Poppins Bold"/>
                <a:hlinkClick r:id="rId15" tooltip="https://crypto-trace-ai-sih.vercel.app"/>
              </a:rPr>
              <a:t>Prototype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709932" y="9287723"/>
            <a:ext cx="595208" cy="595208"/>
          </a:xfrm>
          <a:custGeom>
            <a:avLst/>
            <a:gdLst/>
            <a:ahLst/>
            <a:cxnLst/>
            <a:rect r="r" b="b" t="t" l="l"/>
            <a:pathLst>
              <a:path h="595208" w="595208">
                <a:moveTo>
                  <a:pt x="0" y="0"/>
                </a:moveTo>
                <a:lnTo>
                  <a:pt x="595207" y="0"/>
                </a:lnTo>
                <a:lnTo>
                  <a:pt x="595207" y="595207"/>
                </a:lnTo>
                <a:lnTo>
                  <a:pt x="0" y="59520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5781399" y="9317984"/>
            <a:ext cx="1911544" cy="434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 u="sng">
                <a:solidFill>
                  <a:srgbClr val="0000FF"/>
                </a:solidFill>
                <a:latin typeface="Poppins Bold"/>
                <a:ea typeface="Poppins Bold"/>
                <a:cs typeface="Poppins Bold"/>
                <a:sym typeface="Poppins Bold"/>
                <a:hlinkClick r:id="rId18" tooltip="https://github.com/rajdeepcodeshere247/crypto-trace-ai"/>
              </a:rPr>
              <a:t>Github Repo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8674017" y="9287723"/>
            <a:ext cx="595208" cy="595208"/>
          </a:xfrm>
          <a:custGeom>
            <a:avLst/>
            <a:gdLst/>
            <a:ahLst/>
            <a:cxnLst/>
            <a:rect r="r" b="b" t="t" l="l"/>
            <a:pathLst>
              <a:path h="595208" w="595208">
                <a:moveTo>
                  <a:pt x="0" y="0"/>
                </a:moveTo>
                <a:lnTo>
                  <a:pt x="595208" y="0"/>
                </a:lnTo>
                <a:lnTo>
                  <a:pt x="595208" y="595207"/>
                </a:lnTo>
                <a:lnTo>
                  <a:pt x="0" y="595207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745475" y="9317984"/>
            <a:ext cx="1335500" cy="4346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b="true" sz="2199" u="sng">
                <a:solidFill>
                  <a:srgbClr val="0000FF"/>
                </a:solidFill>
                <a:latin typeface="Poppins Bold"/>
                <a:ea typeface="Poppins Bold"/>
                <a:cs typeface="Poppins Bold"/>
                <a:sym typeface="Poppins Bold"/>
                <a:hlinkClick r:id="rId21" tooltip="https://sih-lyart-delta.vercel.app"/>
              </a:rPr>
              <a:t>About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44072"/>
            <a:ext cx="18288095" cy="10368629"/>
            <a:chOff x="0" y="0"/>
            <a:chExt cx="24384127" cy="1382483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127" cy="13824838"/>
            </a:xfrm>
            <a:custGeom>
              <a:avLst/>
              <a:gdLst/>
              <a:ahLst/>
              <a:cxnLst/>
              <a:rect r="r" b="b" t="t" l="l"/>
              <a:pathLst>
                <a:path h="13824838" w="24384127">
                  <a:moveTo>
                    <a:pt x="0" y="0"/>
                  </a:moveTo>
                  <a:lnTo>
                    <a:pt x="24384127" y="0"/>
                  </a:lnTo>
                  <a:lnTo>
                    <a:pt x="24384127" y="13824838"/>
                  </a:lnTo>
                  <a:lnTo>
                    <a:pt x="0" y="138248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17" r="0" b="-315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3201" y="0"/>
            <a:ext cx="17961674" cy="10286905"/>
            <a:chOff x="0" y="0"/>
            <a:chExt cx="23948898" cy="13715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948898" cy="13715873"/>
            </a:xfrm>
            <a:custGeom>
              <a:avLst/>
              <a:gdLst/>
              <a:ahLst/>
              <a:cxnLst/>
              <a:rect r="r" b="b" t="t" l="l"/>
              <a:pathLst>
                <a:path h="13715873" w="23948898">
                  <a:moveTo>
                    <a:pt x="0" y="0"/>
                  </a:moveTo>
                  <a:lnTo>
                    <a:pt x="23948898" y="0"/>
                  </a:lnTo>
                  <a:lnTo>
                    <a:pt x="23948898" y="13715873"/>
                  </a:lnTo>
                  <a:lnTo>
                    <a:pt x="0" y="1371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17" r="0" b="-315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764" y="0"/>
            <a:ext cx="18113883" cy="10286905"/>
            <a:chOff x="0" y="0"/>
            <a:chExt cx="24151844" cy="13715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151844" cy="13715873"/>
            </a:xfrm>
            <a:custGeom>
              <a:avLst/>
              <a:gdLst/>
              <a:ahLst/>
              <a:cxnLst/>
              <a:rect r="r" b="b" t="t" l="l"/>
              <a:pathLst>
                <a:path h="13715873" w="24151844">
                  <a:moveTo>
                    <a:pt x="0" y="0"/>
                  </a:moveTo>
                  <a:lnTo>
                    <a:pt x="24151844" y="0"/>
                  </a:lnTo>
                  <a:lnTo>
                    <a:pt x="24151844" y="13715873"/>
                  </a:lnTo>
                  <a:lnTo>
                    <a:pt x="0" y="1371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17" r="0" b="-315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601" y="0"/>
            <a:ext cx="18278380" cy="10286905"/>
            <a:chOff x="0" y="0"/>
            <a:chExt cx="24371173" cy="1371587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1173" cy="13715873"/>
            </a:xfrm>
            <a:custGeom>
              <a:avLst/>
              <a:gdLst/>
              <a:ahLst/>
              <a:cxnLst/>
              <a:rect r="r" b="b" t="t" l="l"/>
              <a:pathLst>
                <a:path h="13715873" w="24371173">
                  <a:moveTo>
                    <a:pt x="0" y="0"/>
                  </a:moveTo>
                  <a:lnTo>
                    <a:pt x="24371173" y="0"/>
                  </a:lnTo>
                  <a:lnTo>
                    <a:pt x="24371173" y="13715873"/>
                  </a:lnTo>
                  <a:lnTo>
                    <a:pt x="0" y="1371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17" r="0" b="-315"/>
            </a:stretch>
          </a:blipFill>
        </p:spPr>
      </p:sp>
    </p:spTree>
  </p:cSld>
  <p:clrMapOvr>
    <a:masterClrMapping/>
  </p:clrMapOvr>
  <p:transition spd="slow">
    <p:cover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-40957"/>
            <a:ext cx="18288095" cy="10362533"/>
            <a:chOff x="0" y="0"/>
            <a:chExt cx="24384127" cy="138167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127" cy="13816712"/>
            </a:xfrm>
            <a:custGeom>
              <a:avLst/>
              <a:gdLst/>
              <a:ahLst/>
              <a:cxnLst/>
              <a:rect r="r" b="b" t="t" l="l"/>
              <a:pathLst>
                <a:path h="13816712" w="24384127">
                  <a:moveTo>
                    <a:pt x="0" y="0"/>
                  </a:moveTo>
                  <a:lnTo>
                    <a:pt x="24384127" y="0"/>
                  </a:lnTo>
                  <a:lnTo>
                    <a:pt x="24384127" y="13816712"/>
                  </a:lnTo>
                  <a:lnTo>
                    <a:pt x="0" y="138167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Freeform 4" id="4"/>
          <p:cNvSpPr/>
          <p:nvPr/>
        </p:nvSpPr>
        <p:spPr>
          <a:xfrm flipH="false" flipV="false" rot="0">
            <a:off x="-903761" y="-731558"/>
            <a:ext cx="4387234" cy="1760258"/>
          </a:xfrm>
          <a:custGeom>
            <a:avLst/>
            <a:gdLst/>
            <a:ahLst/>
            <a:cxnLst/>
            <a:rect r="r" b="b" t="t" l="l"/>
            <a:pathLst>
              <a:path h="1760258" w="4387234">
                <a:moveTo>
                  <a:pt x="0" y="0"/>
                </a:moveTo>
                <a:lnTo>
                  <a:pt x="4387234" y="0"/>
                </a:lnTo>
                <a:lnTo>
                  <a:pt x="4387234" y="1760258"/>
                </a:lnTo>
                <a:lnTo>
                  <a:pt x="0" y="17602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76250" y="482565"/>
            <a:ext cx="2970971" cy="501510"/>
          </a:xfrm>
          <a:custGeom>
            <a:avLst/>
            <a:gdLst/>
            <a:ahLst/>
            <a:cxnLst/>
            <a:rect r="r" b="b" t="t" l="l"/>
            <a:pathLst>
              <a:path h="501510" w="2970971">
                <a:moveTo>
                  <a:pt x="0" y="0"/>
                </a:moveTo>
                <a:lnTo>
                  <a:pt x="2970971" y="0"/>
                </a:lnTo>
                <a:lnTo>
                  <a:pt x="2970971" y="501510"/>
                </a:lnTo>
                <a:lnTo>
                  <a:pt x="0" y="501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-317" r="0" b="-315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532764" y="1665999"/>
            <a:ext cx="2892655" cy="3309306"/>
            <a:chOff x="0" y="0"/>
            <a:chExt cx="761852" cy="871587"/>
          </a:xfrm>
        </p:grpSpPr>
        <p:sp>
          <p:nvSpPr>
            <p:cNvPr name="Freeform 7" id="7">
              <a:hlinkClick r:id="rId7" tooltip="https://bitcoin.org/en/bitcoin-paper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3527319" y="1665999"/>
            <a:ext cx="2892655" cy="3309306"/>
            <a:chOff x="0" y="0"/>
            <a:chExt cx="761852" cy="871587"/>
          </a:xfrm>
        </p:grpSpPr>
        <p:sp>
          <p:nvSpPr>
            <p:cNvPr name="Freeform 10" id="10">
              <a:hlinkClick r:id="rId8" tooltip="https://link.springer.com/article/10.1007/s12525-023-00654-3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419974" y="1665999"/>
            <a:ext cx="2892655" cy="3309306"/>
            <a:chOff x="0" y="0"/>
            <a:chExt cx="761852" cy="871587"/>
          </a:xfrm>
        </p:grpSpPr>
        <p:sp>
          <p:nvSpPr>
            <p:cNvPr name="Freeform 13" id="13">
              <a:hlinkClick r:id="rId9" tooltip="https://ietresearch.onlinelibrary.wiley.com/doi/10.1049/blc2.12014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144000" y="1665999"/>
            <a:ext cx="2892655" cy="3309306"/>
            <a:chOff x="0" y="0"/>
            <a:chExt cx="761852" cy="871587"/>
          </a:xfrm>
        </p:grpSpPr>
        <p:sp>
          <p:nvSpPr>
            <p:cNvPr name="Freeform 16" id="16">
              <a:hlinkClick r:id="rId10" tooltip="https://arxiv.org/abs/1405.7418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1930229" y="1665999"/>
            <a:ext cx="2892655" cy="3309306"/>
            <a:chOff x="0" y="0"/>
            <a:chExt cx="761852" cy="871587"/>
          </a:xfrm>
        </p:grpSpPr>
        <p:sp>
          <p:nvSpPr>
            <p:cNvPr name="Freeform 19" id="19">
              <a:hlinkClick r:id="rId11" tooltip="https://proceedings.neurips.cc/paper_files/paper/2017/hash/6c3cf77d52820cd0fe646d38bc2145ca-Abstract.html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4927659" y="1665999"/>
            <a:ext cx="2892655" cy="3309306"/>
            <a:chOff x="0" y="0"/>
            <a:chExt cx="761852" cy="871587"/>
          </a:xfrm>
        </p:grpSpPr>
        <p:sp>
          <p:nvSpPr>
            <p:cNvPr name="Freeform 22" id="22">
              <a:hlinkClick r:id="rId12" tooltip="https://www.nature.com/articles/s41598-025-23901-3"/>
            </p:cNvPr>
            <p:cNvSpPr/>
            <p:nvPr/>
          </p:nvSpPr>
          <p:spPr>
            <a:xfrm flipH="false" flipV="false" rot="0">
              <a:off x="0" y="0"/>
              <a:ext cx="761852" cy="871587"/>
            </a:xfrm>
            <a:custGeom>
              <a:avLst/>
              <a:gdLst/>
              <a:ahLst/>
              <a:cxnLst/>
              <a:rect r="r" b="b" t="t" l="l"/>
              <a:pathLst>
                <a:path h="871587" w="761852">
                  <a:moveTo>
                    <a:pt x="136497" y="0"/>
                  </a:moveTo>
                  <a:lnTo>
                    <a:pt x="625355" y="0"/>
                  </a:lnTo>
                  <a:cubicBezTo>
                    <a:pt x="700740" y="0"/>
                    <a:pt x="761852" y="61112"/>
                    <a:pt x="761852" y="136497"/>
                  </a:cubicBezTo>
                  <a:lnTo>
                    <a:pt x="761852" y="735090"/>
                  </a:lnTo>
                  <a:cubicBezTo>
                    <a:pt x="761852" y="810475"/>
                    <a:pt x="700740" y="871587"/>
                    <a:pt x="625355" y="871587"/>
                  </a:cubicBezTo>
                  <a:lnTo>
                    <a:pt x="136497" y="871587"/>
                  </a:lnTo>
                  <a:cubicBezTo>
                    <a:pt x="61112" y="871587"/>
                    <a:pt x="0" y="810475"/>
                    <a:pt x="0" y="735090"/>
                  </a:cubicBezTo>
                  <a:lnTo>
                    <a:pt x="0" y="136497"/>
                  </a:lnTo>
                  <a:cubicBezTo>
                    <a:pt x="0" y="61112"/>
                    <a:pt x="61112" y="0"/>
                    <a:pt x="136497" y="0"/>
                  </a:cubicBezTo>
                  <a:close/>
                </a:path>
              </a:pathLst>
            </a:custGeom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61852" cy="9096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532764" y="5538497"/>
            <a:ext cx="3279545" cy="2342080"/>
            <a:chOff x="0" y="0"/>
            <a:chExt cx="863748" cy="616844"/>
          </a:xfrm>
        </p:grpSpPr>
        <p:sp>
          <p:nvSpPr>
            <p:cNvPr name="Freeform 25" id="25">
              <a:hlinkClick r:id="rId13" tooltip="https://www.kaggle.com/datasets/ellipticco/elliptic-data-set/data"/>
            </p:cNvPr>
            <p:cNvSpPr/>
            <p:nvPr/>
          </p:nvSpPr>
          <p:spPr>
            <a:xfrm flipH="false" flipV="false" rot="0">
              <a:off x="0" y="0"/>
              <a:ext cx="863749" cy="616844"/>
            </a:xfrm>
            <a:custGeom>
              <a:avLst/>
              <a:gdLst/>
              <a:ahLst/>
              <a:cxnLst/>
              <a:rect r="r" b="b" t="t" l="l"/>
              <a:pathLst>
                <a:path h="616844" w="863749">
                  <a:moveTo>
                    <a:pt x="120394" y="0"/>
                  </a:moveTo>
                  <a:lnTo>
                    <a:pt x="743354" y="0"/>
                  </a:lnTo>
                  <a:cubicBezTo>
                    <a:pt x="775285" y="0"/>
                    <a:pt x="805908" y="12684"/>
                    <a:pt x="828486" y="35263"/>
                  </a:cubicBezTo>
                  <a:cubicBezTo>
                    <a:pt x="851064" y="57841"/>
                    <a:pt x="863749" y="88464"/>
                    <a:pt x="863749" y="120394"/>
                  </a:cubicBezTo>
                  <a:lnTo>
                    <a:pt x="863749" y="496450"/>
                  </a:lnTo>
                  <a:cubicBezTo>
                    <a:pt x="863749" y="528381"/>
                    <a:pt x="851064" y="559003"/>
                    <a:pt x="828486" y="581582"/>
                  </a:cubicBezTo>
                  <a:cubicBezTo>
                    <a:pt x="805908" y="604160"/>
                    <a:pt x="775285" y="616844"/>
                    <a:pt x="743354" y="616844"/>
                  </a:cubicBezTo>
                  <a:lnTo>
                    <a:pt x="120394" y="616844"/>
                  </a:lnTo>
                  <a:cubicBezTo>
                    <a:pt x="88464" y="616844"/>
                    <a:pt x="57841" y="604160"/>
                    <a:pt x="35263" y="581582"/>
                  </a:cubicBezTo>
                  <a:cubicBezTo>
                    <a:pt x="12684" y="559003"/>
                    <a:pt x="0" y="528381"/>
                    <a:pt x="0" y="496450"/>
                  </a:cubicBezTo>
                  <a:lnTo>
                    <a:pt x="0" y="120394"/>
                  </a:lnTo>
                  <a:cubicBezTo>
                    <a:pt x="0" y="88464"/>
                    <a:pt x="12684" y="57841"/>
                    <a:pt x="35263" y="35263"/>
                  </a:cubicBezTo>
                  <a:cubicBezTo>
                    <a:pt x="57841" y="12684"/>
                    <a:pt x="88464" y="0"/>
                    <a:pt x="120394" y="0"/>
                  </a:cubicBezTo>
                  <a:close/>
                </a:path>
              </a:pathLst>
            </a:custGeom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863748" cy="654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3958850" y="5538497"/>
            <a:ext cx="3279545" cy="2342080"/>
            <a:chOff x="0" y="0"/>
            <a:chExt cx="863748" cy="616844"/>
          </a:xfrm>
        </p:grpSpPr>
        <p:sp>
          <p:nvSpPr>
            <p:cNvPr name="Freeform 28" id="28">
              <a:hlinkClick r:id="rId14" tooltip="https://www.kaggle.com/datasets/singhakash/bitcoinheistransomwareaddressdataset"/>
            </p:cNvPr>
            <p:cNvSpPr/>
            <p:nvPr/>
          </p:nvSpPr>
          <p:spPr>
            <a:xfrm flipH="false" flipV="false" rot="0">
              <a:off x="0" y="0"/>
              <a:ext cx="863749" cy="616844"/>
            </a:xfrm>
            <a:custGeom>
              <a:avLst/>
              <a:gdLst/>
              <a:ahLst/>
              <a:cxnLst/>
              <a:rect r="r" b="b" t="t" l="l"/>
              <a:pathLst>
                <a:path h="616844" w="863749">
                  <a:moveTo>
                    <a:pt x="120394" y="0"/>
                  </a:moveTo>
                  <a:lnTo>
                    <a:pt x="743354" y="0"/>
                  </a:lnTo>
                  <a:cubicBezTo>
                    <a:pt x="775285" y="0"/>
                    <a:pt x="805908" y="12684"/>
                    <a:pt x="828486" y="35263"/>
                  </a:cubicBezTo>
                  <a:cubicBezTo>
                    <a:pt x="851064" y="57841"/>
                    <a:pt x="863749" y="88464"/>
                    <a:pt x="863749" y="120394"/>
                  </a:cubicBezTo>
                  <a:lnTo>
                    <a:pt x="863749" y="496450"/>
                  </a:lnTo>
                  <a:cubicBezTo>
                    <a:pt x="863749" y="528381"/>
                    <a:pt x="851064" y="559003"/>
                    <a:pt x="828486" y="581582"/>
                  </a:cubicBezTo>
                  <a:cubicBezTo>
                    <a:pt x="805908" y="604160"/>
                    <a:pt x="775285" y="616844"/>
                    <a:pt x="743354" y="616844"/>
                  </a:cubicBezTo>
                  <a:lnTo>
                    <a:pt x="120394" y="616844"/>
                  </a:lnTo>
                  <a:cubicBezTo>
                    <a:pt x="88464" y="616844"/>
                    <a:pt x="57841" y="604160"/>
                    <a:pt x="35263" y="581582"/>
                  </a:cubicBezTo>
                  <a:cubicBezTo>
                    <a:pt x="12684" y="559003"/>
                    <a:pt x="0" y="528381"/>
                    <a:pt x="0" y="496450"/>
                  </a:cubicBezTo>
                  <a:lnTo>
                    <a:pt x="0" y="120394"/>
                  </a:lnTo>
                  <a:cubicBezTo>
                    <a:pt x="0" y="88464"/>
                    <a:pt x="12684" y="57841"/>
                    <a:pt x="35263" y="35263"/>
                  </a:cubicBezTo>
                  <a:cubicBezTo>
                    <a:pt x="57841" y="12684"/>
                    <a:pt x="88464" y="0"/>
                    <a:pt x="120394" y="0"/>
                  </a:cubicBezTo>
                  <a:close/>
                </a:path>
              </a:pathLst>
            </a:custGeom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863748" cy="654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310782" y="5538497"/>
            <a:ext cx="3279545" cy="2342080"/>
            <a:chOff x="0" y="0"/>
            <a:chExt cx="863748" cy="616844"/>
          </a:xfrm>
        </p:grpSpPr>
        <p:sp>
          <p:nvSpPr>
            <p:cNvPr name="Freeform 31" id="31">
              <a:hlinkClick r:id="rId15" tooltip="https://www.kaggle.com/datasets/bigquery/bitcoin-blockchain/data"/>
            </p:cNvPr>
            <p:cNvSpPr/>
            <p:nvPr/>
          </p:nvSpPr>
          <p:spPr>
            <a:xfrm flipH="false" flipV="false" rot="0">
              <a:off x="0" y="0"/>
              <a:ext cx="863749" cy="616844"/>
            </a:xfrm>
            <a:custGeom>
              <a:avLst/>
              <a:gdLst/>
              <a:ahLst/>
              <a:cxnLst/>
              <a:rect r="r" b="b" t="t" l="l"/>
              <a:pathLst>
                <a:path h="616844" w="863749">
                  <a:moveTo>
                    <a:pt x="120394" y="0"/>
                  </a:moveTo>
                  <a:lnTo>
                    <a:pt x="743354" y="0"/>
                  </a:lnTo>
                  <a:cubicBezTo>
                    <a:pt x="775285" y="0"/>
                    <a:pt x="805908" y="12684"/>
                    <a:pt x="828486" y="35263"/>
                  </a:cubicBezTo>
                  <a:cubicBezTo>
                    <a:pt x="851064" y="57841"/>
                    <a:pt x="863749" y="88464"/>
                    <a:pt x="863749" y="120394"/>
                  </a:cubicBezTo>
                  <a:lnTo>
                    <a:pt x="863749" y="496450"/>
                  </a:lnTo>
                  <a:cubicBezTo>
                    <a:pt x="863749" y="528381"/>
                    <a:pt x="851064" y="559003"/>
                    <a:pt x="828486" y="581582"/>
                  </a:cubicBezTo>
                  <a:cubicBezTo>
                    <a:pt x="805908" y="604160"/>
                    <a:pt x="775285" y="616844"/>
                    <a:pt x="743354" y="616844"/>
                  </a:cubicBezTo>
                  <a:lnTo>
                    <a:pt x="120394" y="616844"/>
                  </a:lnTo>
                  <a:cubicBezTo>
                    <a:pt x="88464" y="616844"/>
                    <a:pt x="57841" y="604160"/>
                    <a:pt x="35263" y="581582"/>
                  </a:cubicBezTo>
                  <a:cubicBezTo>
                    <a:pt x="12684" y="559003"/>
                    <a:pt x="0" y="528381"/>
                    <a:pt x="0" y="496450"/>
                  </a:cubicBezTo>
                  <a:lnTo>
                    <a:pt x="0" y="120394"/>
                  </a:lnTo>
                  <a:cubicBezTo>
                    <a:pt x="0" y="88464"/>
                    <a:pt x="12684" y="57841"/>
                    <a:pt x="35263" y="35263"/>
                  </a:cubicBezTo>
                  <a:cubicBezTo>
                    <a:pt x="57841" y="12684"/>
                    <a:pt x="88464" y="0"/>
                    <a:pt x="120394" y="0"/>
                  </a:cubicBezTo>
                  <a:close/>
                </a:path>
              </a:pathLst>
            </a:custGeom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863748" cy="654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0733202" y="5538497"/>
            <a:ext cx="3279545" cy="2342080"/>
            <a:chOff x="0" y="0"/>
            <a:chExt cx="863748" cy="616844"/>
          </a:xfrm>
        </p:grpSpPr>
        <p:sp>
          <p:nvSpPr>
            <p:cNvPr name="Freeform 34" id="34">
              <a:hlinkClick r:id="rId16" tooltip="https://www.kaggle.com/datasets/bitquery/bitcoin-transactions-2024"/>
            </p:cNvPr>
            <p:cNvSpPr/>
            <p:nvPr/>
          </p:nvSpPr>
          <p:spPr>
            <a:xfrm flipH="false" flipV="false" rot="0">
              <a:off x="0" y="0"/>
              <a:ext cx="863749" cy="616844"/>
            </a:xfrm>
            <a:custGeom>
              <a:avLst/>
              <a:gdLst/>
              <a:ahLst/>
              <a:cxnLst/>
              <a:rect r="r" b="b" t="t" l="l"/>
              <a:pathLst>
                <a:path h="616844" w="863749">
                  <a:moveTo>
                    <a:pt x="120394" y="0"/>
                  </a:moveTo>
                  <a:lnTo>
                    <a:pt x="743354" y="0"/>
                  </a:lnTo>
                  <a:cubicBezTo>
                    <a:pt x="775285" y="0"/>
                    <a:pt x="805908" y="12684"/>
                    <a:pt x="828486" y="35263"/>
                  </a:cubicBezTo>
                  <a:cubicBezTo>
                    <a:pt x="851064" y="57841"/>
                    <a:pt x="863749" y="88464"/>
                    <a:pt x="863749" y="120394"/>
                  </a:cubicBezTo>
                  <a:lnTo>
                    <a:pt x="863749" y="496450"/>
                  </a:lnTo>
                  <a:cubicBezTo>
                    <a:pt x="863749" y="528381"/>
                    <a:pt x="851064" y="559003"/>
                    <a:pt x="828486" y="581582"/>
                  </a:cubicBezTo>
                  <a:cubicBezTo>
                    <a:pt x="805908" y="604160"/>
                    <a:pt x="775285" y="616844"/>
                    <a:pt x="743354" y="616844"/>
                  </a:cubicBezTo>
                  <a:lnTo>
                    <a:pt x="120394" y="616844"/>
                  </a:lnTo>
                  <a:cubicBezTo>
                    <a:pt x="88464" y="616844"/>
                    <a:pt x="57841" y="604160"/>
                    <a:pt x="35263" y="581582"/>
                  </a:cubicBezTo>
                  <a:cubicBezTo>
                    <a:pt x="12684" y="559003"/>
                    <a:pt x="0" y="528381"/>
                    <a:pt x="0" y="496450"/>
                  </a:cubicBezTo>
                  <a:lnTo>
                    <a:pt x="0" y="120394"/>
                  </a:lnTo>
                  <a:cubicBezTo>
                    <a:pt x="0" y="88464"/>
                    <a:pt x="12684" y="57841"/>
                    <a:pt x="35263" y="35263"/>
                  </a:cubicBezTo>
                  <a:cubicBezTo>
                    <a:pt x="57841" y="12684"/>
                    <a:pt x="88464" y="0"/>
                    <a:pt x="120394" y="0"/>
                  </a:cubicBezTo>
                  <a:close/>
                </a:path>
              </a:pathLst>
            </a:custGeom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863748" cy="654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4155623" y="5538497"/>
            <a:ext cx="3279545" cy="2342080"/>
            <a:chOff x="0" y="0"/>
            <a:chExt cx="863748" cy="616844"/>
          </a:xfrm>
        </p:grpSpPr>
        <p:sp>
          <p:nvSpPr>
            <p:cNvPr name="Freeform 37" id="37">
              <a:hlinkClick r:id="rId17" tooltip="https://www.kaggle.com/datasets/pablodejuanfidalgo/augmented-elliptic-data-set"/>
            </p:cNvPr>
            <p:cNvSpPr/>
            <p:nvPr/>
          </p:nvSpPr>
          <p:spPr>
            <a:xfrm flipH="false" flipV="false" rot="0">
              <a:off x="0" y="0"/>
              <a:ext cx="863749" cy="616844"/>
            </a:xfrm>
            <a:custGeom>
              <a:avLst/>
              <a:gdLst/>
              <a:ahLst/>
              <a:cxnLst/>
              <a:rect r="r" b="b" t="t" l="l"/>
              <a:pathLst>
                <a:path h="616844" w="863749">
                  <a:moveTo>
                    <a:pt x="120394" y="0"/>
                  </a:moveTo>
                  <a:lnTo>
                    <a:pt x="743354" y="0"/>
                  </a:lnTo>
                  <a:cubicBezTo>
                    <a:pt x="775285" y="0"/>
                    <a:pt x="805908" y="12684"/>
                    <a:pt x="828486" y="35263"/>
                  </a:cubicBezTo>
                  <a:cubicBezTo>
                    <a:pt x="851064" y="57841"/>
                    <a:pt x="863749" y="88464"/>
                    <a:pt x="863749" y="120394"/>
                  </a:cubicBezTo>
                  <a:lnTo>
                    <a:pt x="863749" y="496450"/>
                  </a:lnTo>
                  <a:cubicBezTo>
                    <a:pt x="863749" y="528381"/>
                    <a:pt x="851064" y="559003"/>
                    <a:pt x="828486" y="581582"/>
                  </a:cubicBezTo>
                  <a:cubicBezTo>
                    <a:pt x="805908" y="604160"/>
                    <a:pt x="775285" y="616844"/>
                    <a:pt x="743354" y="616844"/>
                  </a:cubicBezTo>
                  <a:lnTo>
                    <a:pt x="120394" y="616844"/>
                  </a:lnTo>
                  <a:cubicBezTo>
                    <a:pt x="88464" y="616844"/>
                    <a:pt x="57841" y="604160"/>
                    <a:pt x="35263" y="581582"/>
                  </a:cubicBezTo>
                  <a:cubicBezTo>
                    <a:pt x="12684" y="559003"/>
                    <a:pt x="0" y="528381"/>
                    <a:pt x="0" y="496450"/>
                  </a:cubicBezTo>
                  <a:lnTo>
                    <a:pt x="0" y="120394"/>
                  </a:lnTo>
                  <a:cubicBezTo>
                    <a:pt x="0" y="88464"/>
                    <a:pt x="12684" y="57841"/>
                    <a:pt x="35263" y="35263"/>
                  </a:cubicBezTo>
                  <a:cubicBezTo>
                    <a:pt x="57841" y="12684"/>
                    <a:pt x="88464" y="0"/>
                    <a:pt x="120394" y="0"/>
                  </a:cubicBezTo>
                  <a:close/>
                </a:path>
              </a:pathLst>
            </a:custGeom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863748" cy="654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  <p:transition spd="slow">
    <p:cover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DAHUIgcWfyY</dc:identifier>
  <dcterms:modified xsi:type="dcterms:W3CDTF">2011-08-01T06:04:30Z</dcterms:modified>
  <cp:revision>1</cp:revision>
</cp:coreProperties>
</file>